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5C15CC">
              <a:alpha val="30000"/>
            </a:srgbClr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F15A24">
              <a:alpha val="20000"/>
            </a:srgbClr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40080"/>
            <a:ext cx="3840480" cy="457200"/>
          </a:xfrm>
          <a:prstGeom prst="rect">
            <a:avLst/>
          </a:prstGeom>
          <a:solidFill>
            <a:srgbClr val="F15A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PROJECT JOURNEY · مايو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BSN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5C8D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شريك الأعمال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رحلة تطوير</a:t>
            </a:r>
            <a:endParaRPr lang="en-US" sz="5400" dirty="0"/>
          </a:p>
          <a:p>
            <a:pPr indent="0" marL="0">
              <a:buNone/>
            </a:pPr>
            <a:r>
              <a:rPr lang="en-US" sz="54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المنصّة الرقمية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خلصناه · اللي هنعمله · الخريطة الكاملة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" y="5669280"/>
            <a:ext cx="2468880" cy="822960"/>
          </a:xfrm>
          <a:prstGeom prst="rect">
            <a:avLst/>
          </a:prstGeom>
          <a:solidFill>
            <a:srgbClr val="1F1448"/>
          </a:solidFill>
          <a:ln w="19050">
            <a:solidFill>
              <a:srgbClr val="F15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6692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20240" y="56692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مراحل خلصت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5669280"/>
            <a:ext cx="2468880" cy="822960"/>
          </a:xfrm>
          <a:prstGeom prst="rect">
            <a:avLst/>
          </a:prstGeom>
          <a:solidFill>
            <a:srgbClr val="1F1448"/>
          </a:solidFill>
          <a:ln w="19050">
            <a:solidFill>
              <a:srgbClr val="F15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56692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56692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مراحل جاية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5669280"/>
            <a:ext cx="2468880" cy="822960"/>
          </a:xfrm>
          <a:prstGeom prst="rect">
            <a:avLst/>
          </a:prstGeom>
          <a:solidFill>
            <a:srgbClr val="1F1448"/>
          </a:solidFill>
          <a:ln w="19050">
            <a:solidFill>
              <a:srgbClr val="F15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56692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06640" y="56692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صفحة spec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680" y="5669280"/>
            <a:ext cx="2468880" cy="822960"/>
          </a:xfrm>
          <a:prstGeom prst="rect">
            <a:avLst/>
          </a:prstGeom>
          <a:solidFill>
            <a:srgbClr val="1F1448"/>
          </a:solidFill>
          <a:ln w="19050">
            <a:solidFill>
              <a:srgbClr val="F15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56692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0149840" y="56692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ملف كود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 هنغطّيه النهارده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548640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✓ المراحل المنجزة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(DONE · ما تم بناؤه فعلاً)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336499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1. الأساس التقني — Laravel + React + Auth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386791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2. الـ Dashboards الثلاثة (Admin/Dev/User)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23560" y="437083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3. تكامل المدفوعات — 5 بوابات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487375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4. الـ Chat الفوري — Laravel Reverb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23560" y="537667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5. الهوية البصرية للموقع العام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23560" y="5879592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760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6. الـ Master Spec + Case Study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011680"/>
            <a:ext cx="5486400" cy="73152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→ المراحل القادمة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92240" y="2834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(NEXT · ما هو مخطط للتنفيذ)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292840" y="3364992"/>
            <a:ext cx="201168" cy="201168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1. تأسيس البيانات — Migrations + Models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292840" y="3867912"/>
            <a:ext cx="201168" cy="201168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2. مسار الـ Order — Path A (Packages)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292840" y="4370832"/>
            <a:ext cx="201168" cy="201168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3. مسار الـ Quote — Path B (Custom)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292840" y="4873752"/>
            <a:ext cx="201168" cy="201168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4. لوحة الـ Admin CMS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1292840" y="5376672"/>
            <a:ext cx="201168" cy="201168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5. الـ Polish النهائي + Launch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من وكالة → لمنصّة رقمية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التحوّل الاستراتيجي اللي بنبنيه على مدار شهور — نقل BSN من نموذج الـ agency التقليدي إلى منصّة self-service متكاملة بتخدم العملاء بشكل فوري وشفّاف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03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4B556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5303520" cy="5029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60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·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Agency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📞 تواصل scattered (WhatsApp + Email)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⏰ عرض سعر يأخذ 3-7 أيام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❌ مفيش portal للعميل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💳 دفع تحويل بنكي يدوي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📈 3-4 مشاريع / شهر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623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🔄 إدارة من Excel + كاغد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560320"/>
            <a:ext cx="530352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15A24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560320"/>
            <a:ext cx="5303520" cy="50292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560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·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560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3337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💬 Portal كامل بـ chat real-time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⚡ Path A فوري · Path B خلال 24 ساعة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📊 Tracking لكل مرحلة + deliverables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🏦 5 بوابات دفع محلية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5166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🚀 25-30 مشروع / شهر مستهدف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5623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🤖 admin dashboard ذكي بـ KPIs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70448" y="4297680"/>
            <a:ext cx="502920" cy="502920"/>
          </a:xfrm>
          <a:prstGeom prst="ellipse">
            <a:avLst/>
          </a:prstGeom>
          <a:solidFill>
            <a:srgbClr val="0F0830"/>
          </a:solidFill>
          <a:ln w="25400">
            <a:solidFill>
              <a:srgbClr val="F15A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5A24"/>
                </a:solidFill>
              </a:rPr>
              <a:t>←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4572000" y="2560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 خلصناه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spc="400" kern="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DONE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42062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 مراحل أساسية تم إنجازها — تشكّل أساس صلب جاهز للبناء فوقه. من البنية التحتية التقنية للهوية البصرية الكاملة، وأخيراً المرجع الاستراتيجي الشامل.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309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 مراحل · بنية تحتية كاملة · 200+ ملف كود · 60 صفحة spec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✓ مكتمل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التقدير: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 أسابيع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الأساس التقني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· بنية المشروع التقنية الأساسية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2606040" cy="201168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33172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8620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Laravel 11 API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88620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Backend بـ Sanctum + queues + scheduling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2103120"/>
            <a:ext cx="2606040" cy="201168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7512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React 18 SPA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67512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Frontend بـ Vite + Tailwind + React Query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235440" y="2103120"/>
            <a:ext cx="2606040" cy="201168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3317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640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Auth + Roles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46404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Login, Register, Forgot/Reset Password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657600" y="4297680"/>
            <a:ext cx="2606040" cy="201168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45262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8620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Database Schema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886200" y="5440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Users · Projects · Tasks · Deliverables · Payments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46520" y="4297680"/>
            <a:ext cx="2606040" cy="201168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52628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67512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Models + Migrations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6675120" y="5440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13 model مع كل العلاقات والـ soft deletes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9235440" y="4297680"/>
            <a:ext cx="2606040" cy="201168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45262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6404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API Versioning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464040" y="5440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/api/v1/* بـ fallback hints + audit logs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✓ مكتمل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التقدير: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 أسبوع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الـ Dashboards الثلاثة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Role-Based Access · صلاحيات مختلفة لكل دور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26060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15A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103120"/>
            <a:ext cx="2606040" cy="9144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الأدمن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0" y="3383280"/>
            <a:ext cx="137160" cy="137160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المستخدمين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3931920"/>
            <a:ext cx="137160" cy="137160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المشاريع والمدفوعات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4480560"/>
            <a:ext cx="137160" cy="137160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Filament panel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5029200"/>
            <a:ext cx="137160" cy="137160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Audit Logs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5577840"/>
            <a:ext cx="137160" cy="137160"/>
          </a:xfrm>
          <a:prstGeom prst="ellipse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5440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Reports + KPIs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2103120"/>
            <a:ext cx="26060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65C8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2103120"/>
            <a:ext cx="2606040" cy="914400"/>
          </a:xfrm>
          <a:prstGeom prst="rect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2940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المطوّر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8732520" y="3383280"/>
            <a:ext cx="137160" cy="137160"/>
          </a:xfrm>
          <a:prstGeom prst="ellipse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المشاريع المعيّنة له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32520" y="3931920"/>
            <a:ext cx="137160" cy="137160"/>
          </a:xfrm>
          <a:prstGeom prst="ellipse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Kanban للـ tasks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32520" y="4480560"/>
            <a:ext cx="137160" cy="137160"/>
          </a:xfrm>
          <a:prstGeom prst="ellipse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رفع الـ deliverables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32520" y="5029200"/>
            <a:ext cx="137160" cy="137160"/>
          </a:xfrm>
          <a:prstGeom prst="ellipse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chat مع العميل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732520" y="5577840"/>
            <a:ext cx="137160" cy="137160"/>
          </a:xfrm>
          <a:prstGeom prst="ellipse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5440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Time tracking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35440" y="2103120"/>
            <a:ext cx="26060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5C15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5440" y="2103120"/>
            <a:ext cx="2606040" cy="914400"/>
          </a:xfrm>
          <a:prstGeom prst="rect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41832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العميل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11521440" y="3383280"/>
            <a:ext cx="137160" cy="137160"/>
          </a:xfrm>
          <a:prstGeom prst="ellipse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1832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مشاريعي وتقدّمها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1521440" y="3931920"/>
            <a:ext cx="137160" cy="137160"/>
          </a:xfrm>
          <a:prstGeom prst="ellipse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794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الفواتير والمدفوعات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1521440" y="4480560"/>
            <a:ext cx="137160" cy="137160"/>
          </a:xfrm>
          <a:prstGeom prst="ellipse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18320" y="4343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الرسائل (chat)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1521440" y="5029200"/>
            <a:ext cx="137160" cy="137160"/>
          </a:xfrm>
          <a:prstGeom prst="ellipse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418320" y="48920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تحميل الـ deliverables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1521440" y="5577840"/>
            <a:ext cx="137160" cy="137160"/>
          </a:xfrm>
          <a:prstGeom prst="ellipse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18320" y="5440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الملف الشخصي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✓ مكتمل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التقدير: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 أسبوع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تكامل المدفوعات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Pattern · 5 بوابات دفع محلية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15A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2103120"/>
            <a:ext cx="109728" cy="1325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33172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9319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Paymob Card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93192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Visa · Mastercard · iframe checkout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46520" y="210312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65C8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2103120"/>
            <a:ext cx="109728" cy="1325880"/>
          </a:xfrm>
          <a:prstGeom prst="rect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233172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208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Paymob Wallet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72084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Vodafone Cash · Orange · WE Pay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9235440" y="210312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5C15C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235440" y="2103120"/>
            <a:ext cx="109728" cy="1325880"/>
          </a:xfrm>
          <a:prstGeom prst="rect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33172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5097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Paymob Installments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9509760" y="27432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valU · Souhoola · Forsa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657600" y="361188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F15A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0" y="3611880"/>
            <a:ext cx="109728" cy="132588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84048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93192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Fawry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3931920" y="4251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Cash collection · 30K+ outlet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446520" y="3611880"/>
            <a:ext cx="26060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65C8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446520" y="3611880"/>
            <a:ext cx="109728" cy="1325880"/>
          </a:xfrm>
          <a:prstGeom prst="rect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384048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72084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Kashier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6720840" y="4251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Saudi/Egypt · hosted page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657600" y="5349240"/>
            <a:ext cx="8046720" cy="914400"/>
          </a:xfrm>
          <a:prstGeom prst="rect">
            <a:avLst/>
          </a:prstGeom>
          <a:solidFill>
            <a:srgbClr val="0F0830"/>
          </a:solidFill>
          <a:ln w="25400">
            <a:solidFill>
              <a:srgbClr val="F15A24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931920" y="5349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✓ Webhooks · ✓ HMAC verification · ✓ Refund support · ✓ Invoice auto-generation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✓ مكتمل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التقدير: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 أيام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الـ Chat الفوري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Laravel Reverb · WebSocket Real-Time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194560"/>
            <a:ext cx="3931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الرسائل الجديدة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~100ms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WebSocket push فوري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2194560"/>
            <a:ext cx="3931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قائمة الـ rooms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4128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65C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ثانية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Polling لـ unread counts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611880"/>
            <a:ext cx="3931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Typing indicator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2648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5C1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2s debounce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0" y="4206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+ 5s safety timeout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3611880"/>
            <a:ext cx="3931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04672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Mark as read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41280" y="3749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فوري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46720" y="4206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الفتح أو وصول رسالة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5212080"/>
            <a:ext cx="8046720" cy="1005840"/>
          </a:xfrm>
          <a:prstGeom prst="rect">
            <a:avLst/>
          </a:prstGeom>
          <a:solidFill>
            <a:srgbClr val="65C8D0"/>
          </a:solidFill>
          <a:ln w="25400">
            <a:solidFill>
              <a:srgbClr val="0F0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52120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الفوائد: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52120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A0B8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Self-hosted (مفيش fees) · توفير $99-499/شهر من Pusher · تحكم كامل في الـ scaling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✓ مكتمل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التقدير: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 أسبوع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الهوية البصرية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Brutalist Design · 8 صفحات عامة + Design System كامل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1920240" cy="1097280"/>
          </a:xfrm>
          <a:prstGeom prst="rect">
            <a:avLst/>
          </a:prstGeom>
          <a:solidFill>
            <a:srgbClr val="5C15CC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Purple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#5C15CC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15000" y="2103120"/>
            <a:ext cx="1920240" cy="1097280"/>
          </a:xfrm>
          <a:prstGeom prst="rect">
            <a:avLst/>
          </a:prstGeom>
          <a:solidFill>
            <a:srgbClr val="F15A24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978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Orange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#F15A24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2103120"/>
            <a:ext cx="1920240" cy="1097280"/>
          </a:xfrm>
          <a:prstGeom prst="rect">
            <a:avLst/>
          </a:prstGeom>
          <a:solidFill>
            <a:srgbClr val="65C8D0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C1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9552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1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#65C8D0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29800" y="2103120"/>
            <a:ext cx="1920240" cy="1097280"/>
          </a:xfrm>
          <a:prstGeom prst="rect">
            <a:avLst/>
          </a:prstGeom>
          <a:solidFill>
            <a:srgbClr val="0F0830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126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126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#0F0830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الصفحات اللي اتبنت: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402336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Home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402336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402336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ServiceDetail (×4)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829800" y="402336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Pricing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0" y="457200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Portfolio (41)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0" y="457200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About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772400" y="457200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Contact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829800" y="4572000"/>
            <a:ext cx="1920240" cy="457200"/>
          </a:xfrm>
          <a:prstGeom prst="rect">
            <a:avLst/>
          </a:prstGeom>
          <a:solidFill>
            <a:srgbClr val="FAF3FF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696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PublicLayout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0" y="5349240"/>
            <a:ext cx="8046720" cy="914400"/>
          </a:xfrm>
          <a:prstGeom prst="rect">
            <a:avLst/>
          </a:prstGeom>
          <a:solidFill>
            <a:srgbClr val="0F0830"/>
          </a:solidFill>
          <a:ln w="25400">
            <a:solidFill>
              <a:srgbClr val="F15A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0" y="5349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Cairo · Tajawal · Archivo Black · Space Mono · RTL Arabic · 3,260 CSS lines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✓ مكتمل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التقدير: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 أيام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الـ Master Spec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صفحة · 14 قسم · مرجع استراتيجي شامل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10312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224028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7947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User Personas (×4)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9476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محمد · نورة · سارة · عمر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15000" y="210312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4028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521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5216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 مراحل لـ Path A + 6 لـ Path B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772400" y="210312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2402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095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User Flows (×4)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90956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Path A · Path B · Onboarding · Payment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829800" y="210312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22402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669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DB Schema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966960" y="2971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10 migrations جديدة بالتفصيل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3657600" y="352044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65760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9476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API Endpoints (20+)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79476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Public + User + Admin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15000" y="352044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6576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5216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8 Low-Fi Wireframes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85216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الشاشات الأساسية الجديدة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7772400" y="352044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3657600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0956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Competitive Analysis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790956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 موديلات + positioning map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9829800" y="3520440"/>
            <a:ext cx="1920240" cy="123444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0" y="3657600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966960" y="4023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Case Study (11 فصل)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9966960" y="4389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قصة المشروع كاملة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3657600" y="5074920"/>
            <a:ext cx="8046720" cy="1234440"/>
          </a:xfrm>
          <a:prstGeom prst="rect">
            <a:avLst/>
          </a:prstGeom>
          <a:solidFill>
            <a:srgbClr val="F15A24"/>
          </a:solidFill>
          <a:ln w="25400">
            <a:solidFill>
              <a:srgbClr val="0F0830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3931920" y="5212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⭐ Claude Code Prompt كامل ومحضّر للتنفيذ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3931920" y="5669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برومبت احترافي بـ acceptance criteria + 5 phases جاهز للنسخ ولصقه في Claude Code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· بالأرقام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 خلصناه — الإجمالي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بناء كامل من الصفر للـ MVP الحالي — في حدود 8 أسابيع شغل مركّز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68880"/>
            <a:ext cx="2606040" cy="13716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مراحل خلصت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→ Spec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246888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468880"/>
            <a:ext cx="2606040" cy="137160"/>
          </a:xfrm>
          <a:prstGeom prst="rect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6974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65C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52044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ملف كود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+ Frontend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246888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0F083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468880"/>
            <a:ext cx="2606040" cy="137160"/>
          </a:xfrm>
          <a:prstGeom prst="rect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974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5C1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30936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صفحات عامة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كاملة بـ brutalist style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915400" y="246888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15400" y="2468880"/>
            <a:ext cx="2606040" cy="13716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26974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9098280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بوابات دفع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9828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Paymob · Fawry · Kashier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434840"/>
            <a:ext cx="2606040" cy="137160"/>
          </a:xfrm>
          <a:prstGeom prst="rect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663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65C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731520" y="5669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5897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· Dev · Client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443484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0F0830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37560" y="4434840"/>
            <a:ext cx="2606040" cy="137160"/>
          </a:xfrm>
          <a:prstGeom prst="rect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4663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5C1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3520440" y="5669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صفحة spec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0440" y="5897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+ HTML + Case Study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443484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4434840"/>
            <a:ext cx="2606040" cy="13716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663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6309360" y="5669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إيميل templates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09360" y="5897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 · Receipt · Reminder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15400" y="443484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915400" y="4434840"/>
            <a:ext cx="2606040" cy="137160"/>
          </a:xfrm>
          <a:prstGeom prst="rect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98280" y="46634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65C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5600" dirty="0"/>
          </a:p>
        </p:txBody>
      </p:sp>
      <p:sp>
        <p:nvSpPr>
          <p:cNvPr id="44" name="Text 42"/>
          <p:cNvSpPr/>
          <p:nvPr/>
        </p:nvSpPr>
        <p:spPr>
          <a:xfrm>
            <a:off x="9098280" y="5669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98280" y="5897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in-app + email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"/>
            <a:ext cx="3200400" cy="3200400"/>
          </a:xfrm>
          <a:prstGeom prst="ellipse">
            <a:avLst/>
          </a:prstGeom>
          <a:solidFill>
            <a:srgbClr val="F15A24">
              <a:alpha val="25000"/>
            </a:srgbClr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65C8D0">
              <a:alpha val="20000"/>
            </a:srgbClr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5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4572000" y="2560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اللي هنعمله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spc="400" kern="0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NEXT PHASES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0" y="42062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i="1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 مراحل قادمة تكمّل الـ business workflow — من تأسيس البيانات لإطلاق المنصة بشكل كامل. التقدير الإجمالي: 20-28 يوم عمل (4-6 أسابيع لمطوّر متفرّغ).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309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 مراحل · Order Flow · Quote Workflow · Admin CMS · Launch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⏳ مخطّط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المدة: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4-5 أيام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تأسيس البيانات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Foundation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1874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إضافة الـ migrations والـ models والـ seeders اللي محتاجها الـ business workflow الجديد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971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10 Migrations جديدة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9319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package_addons · bundles · coupons · orders · leads · quotes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9 Models بالعلاقات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467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 الـ factories والـ relationships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54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319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Seeders كاملة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9319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13 باقة + 20 add-on + 4 bundles + 4 coupons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7724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4754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Email Verification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0467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Token-based + resend endpoint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⏳ مخطّط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المدة: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5-7 أيام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الـ Order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A · Package Purchase Flow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1874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الـ wizard الذكي اللي يخلّي العميل يطلب باقة جاهزة ويدفع في 5 دقايق — الـ workflow الأساسي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971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5-Step Wizard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9319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service → package → addons → details → checkout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OrderController + APIs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467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draft · calculate · checkout · attachments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54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319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Live Calculation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9319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السعر يتحدّث فوراً عند أي تغيير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7724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4754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Coupon + Checkout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0467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تكامل كامل مع الـ 5 payment gateways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⏳ مخطّط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المدة: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5-7 أيام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مسار الـ Quote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B · Custom Project Workflow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1874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للمشاريع المعقدة — Smart Q&amp;A wizard + admin يبني عرض سعر مفصّل + العميل يقبل/يتفاوض/يرفض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971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Smart Q&amp;A Wizard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9319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ذكية حسب نوع الخدمة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Admin Quote Builder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467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line items + payment schedule + validity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54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319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Accept/Reject/Negotiate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9319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 خيارات للعميل + chat للتفاوض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7724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4754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Quote → Order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0467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Conversion تلقائي عند القبول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⏳ مخطّط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المدة: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3-5 أيام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لوحة الـ Admin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CMS + Management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1874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كاملة للـ packages, addons, bundles, coupons + مراقبة الـ orders والـ leads + KPIs dashboard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971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Addons + Bundles CRUD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9319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إضافة/تعديل/حذف الإضافات والحزم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Coupons Management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467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 usage tracking وlimits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54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319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Orders Management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9319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تعيين developer · تتبّع الحالة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7724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4754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Enhanced KPIs Dashboard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0467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revenue · leads · top packages · trends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3716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5C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0" dirty="0"/>
          </a:p>
        </p:txBody>
      </p:sp>
      <p:sp>
        <p:nvSpPr>
          <p:cNvPr id="6" name="Shape 4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⏳ مخطّط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297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المدة: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3-4 أيام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5486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الـ Polish النهائي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760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 Preparation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1874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 كل اللي لازم قبل الإطلاق — emails + legal pages + tests + documentation + soft launch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9718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Email Templates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9319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Order confirmation · Quote received · etc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0" y="274320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Legal Pages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04672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Terms · Privacy · Refund Policy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6576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F15A24">
                <a:alpha val="10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7548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319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Test Coverage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39319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PHPUnit tests للـ flows الجديدة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772400" y="4526280"/>
            <a:ext cx="3931920" cy="1600200"/>
          </a:xfrm>
          <a:prstGeom prst="rect">
            <a:avLst/>
          </a:prstGeom>
          <a:solidFill>
            <a:srgbClr val="FAF3FF"/>
          </a:solidFill>
          <a:ln w="19050">
            <a:solidFill>
              <a:srgbClr val="0F0830"/>
            </a:solidFill>
            <a:prstDash val="solid"/>
          </a:ln>
          <a:effectLst>
            <a:outerShdw sx="100000" sy="100000" kx="0" ky="0" algn="bl" rotWithShape="0" blurRad="101600" dist="76200" dir="8100000">
              <a:srgbClr val="65C8D0">
                <a:alpha val="10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0" y="47548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4672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Soft Launch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8046720" y="5212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 عميل ودود لـ 2 أسابيع قبل الإطلاق الرسمي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 الزمني للـ 5 مراحل القادمة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20-28 يوم عمل · 4-6 أسابيع لمطوّر متفرّغ · 3-4 أسابيع لـ 2 devs بالتوازي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2194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يوم 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2560320"/>
            <a:ext cx="0" cy="384048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097780" y="2194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يوم 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72100" y="2560320"/>
            <a:ext cx="0" cy="384048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269480" y="2194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يوم 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43800" y="2560320"/>
            <a:ext cx="0" cy="384048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441180" y="2194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يوم 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715500" y="2560320"/>
            <a:ext cx="0" cy="384048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1612880" y="2194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يوم 28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0" y="2560320"/>
            <a:ext cx="0" cy="3840480"/>
          </a:xfrm>
          <a:prstGeom prst="line">
            <a:avLst/>
          </a:prstGeom>
          <a:noFill/>
          <a:ln w="6350">
            <a:solidFill>
              <a:srgbClr val="E5E7E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2560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Phase 1: Foundation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2633472"/>
            <a:ext cx="1551214" cy="411480"/>
          </a:xfrm>
          <a:prstGeom prst="rect">
            <a:avLst/>
          </a:prstGeom>
          <a:solidFill>
            <a:srgbClr val="65C8D0"/>
          </a:solidFill>
          <a:ln w="19050">
            <a:solidFill>
              <a:srgbClr val="0F0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633472"/>
            <a:ext cx="15512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 يوم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Phase 2: Order Wizard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1614" y="3319272"/>
            <a:ext cx="2171700" cy="411480"/>
          </a:xfrm>
          <a:prstGeom prst="rect">
            <a:avLst/>
          </a:prstGeom>
          <a:solidFill>
            <a:srgbClr val="F15A24"/>
          </a:solidFill>
          <a:ln w="19050">
            <a:solidFill>
              <a:srgbClr val="0F0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1614" y="3319272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 يوم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Phase 3: Quote Workflow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23314" y="4005072"/>
            <a:ext cx="2171700" cy="411480"/>
          </a:xfrm>
          <a:prstGeom prst="rect">
            <a:avLst/>
          </a:prstGeom>
          <a:solidFill>
            <a:srgbClr val="5C15CC"/>
          </a:solidFill>
          <a:ln w="19050">
            <a:solidFill>
              <a:srgbClr val="0F0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3314" y="4005072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 يوم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617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Phase 4: Admin CMS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5014" y="4690872"/>
            <a:ext cx="1551214" cy="411480"/>
          </a:xfrm>
          <a:prstGeom prst="rect">
            <a:avLst/>
          </a:prstGeom>
          <a:solidFill>
            <a:srgbClr val="65C8D0"/>
          </a:solidFill>
          <a:ln w="19050">
            <a:solidFill>
              <a:srgbClr val="0F0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5014" y="4690872"/>
            <a:ext cx="15512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 يوم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Phase 5: Polish + Launch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46229" y="5376672"/>
            <a:ext cx="1240971" cy="411480"/>
          </a:xfrm>
          <a:prstGeom prst="rect">
            <a:avLst/>
          </a:prstGeom>
          <a:solidFill>
            <a:srgbClr val="F15A24"/>
          </a:solidFill>
          <a:ln w="19050">
            <a:solidFill>
              <a:srgbClr val="0F0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46229" y="5376672"/>
            <a:ext cx="1240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 يوم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11338560" cy="640080"/>
          </a:xfrm>
          <a:prstGeom prst="rect">
            <a:avLst/>
          </a:prstGeom>
          <a:solidFill>
            <a:srgbClr val="0F0830"/>
          </a:solidFill>
          <a:ln w="25400">
            <a:solidFill>
              <a:srgbClr val="F15A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943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📅 من Phase 1 لـ Phase 5: ~28 يوم عمل · إذا بدأنا الأسبوع الجاي → جاهز للـ Launch بنهاية يونيو 2026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83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الـ KPIs المستهدفة بعد الإطلاق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التحوّل من معدّل 3-4 مشاريع/شهر لـ 25-30 مشروع/شهر خلال 12 شهر — مدعومًا بـ self-service وproductization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926080" cy="4572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المؤشّر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468880"/>
            <a:ext cx="2011680" cy="4572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قبل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2468880"/>
            <a:ext cx="2011680" cy="4572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بعد 6 شهور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2468880"/>
            <a:ext cx="2011680" cy="4572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بعد 12 شهر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2468880"/>
            <a:ext cx="2194560" cy="457200"/>
          </a:xfrm>
          <a:prstGeom prst="rect">
            <a:avLst/>
          </a:prstGeom>
          <a:solidFill>
            <a:srgbClr val="0F0830"/>
          </a:solidFill>
          <a:ln w="12700">
            <a:solidFill>
              <a:srgbClr val="0F0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التحسّن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29260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المشاريع شهرياً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2926080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2926080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12-15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2926080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25-30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09760" y="2926080"/>
            <a:ext cx="219456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926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+750%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493008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930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من طلب لموافقة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74720" y="349300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493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3-7 أيام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0" y="349300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493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&lt;24h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3493008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4930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&lt;4h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9760" y="3493008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0" y="34930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C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-95%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059936"/>
            <a:ext cx="29260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0599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نسبة Self-Service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4059936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40599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0" y="4059936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40599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0" y="4059936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40599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509760" y="4059936"/>
            <a:ext cx="219456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405993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1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جديد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4626864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6268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Avg Order Value (EGP)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474720" y="462686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6160" y="4626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25,000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0" y="462686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4626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22,000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98080" y="4626864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46268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28,000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509760" y="4626864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0" y="462686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+12%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5193792"/>
            <a:ext cx="29260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5193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MRR Marketing (EGP)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474720" y="5193792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66160" y="5193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15K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0" y="5193792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5193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50K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498080" y="5193792"/>
            <a:ext cx="201168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51937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120K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509760" y="5193792"/>
            <a:ext cx="2194560" cy="566928"/>
          </a:xfrm>
          <a:prstGeom prst="rect">
            <a:avLst/>
          </a:prstGeom>
          <a:solidFill>
            <a:srgbClr val="FA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01200" y="51937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C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+700%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548640" y="576072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760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083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Conversion Rate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474720" y="576072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66160" y="5760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~2%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486400" y="576072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77840" y="5760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5-7%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498080" y="576072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5760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0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8-10%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509760" y="5760720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01200" y="5760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1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+400%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15A24">
              <a:alpha val="25000"/>
            </a:srgbClr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3657600" cy="3657600"/>
          </a:xfrm>
          <a:prstGeom prst="ellipse">
            <a:avLst/>
          </a:prstGeom>
          <a:solidFill>
            <a:srgbClr val="65C8D0">
              <a:alpha val="20000"/>
            </a:srgbClr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15A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IMMEDIATE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الخطوات الفورية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اللي محتاج تختاره عشان نبدأ Phase 1 الأسبوع الجاي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57600" cy="3657600"/>
          </a:xfrm>
          <a:prstGeom prst="rect">
            <a:avLst/>
          </a:prstGeom>
          <a:solidFill>
            <a:srgbClr val="1F1448"/>
          </a:solidFill>
          <a:ln w="31750">
            <a:solidFill>
              <a:srgbClr val="F15A24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ابدأ Phase 1 فوراً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أنشئ الـ 10 migrations + 9 models + seeders + email verification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760720"/>
            <a:ext cx="1463040" cy="36576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760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4-5 أيام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560320"/>
            <a:ext cx="3657600" cy="3657600"/>
          </a:xfrm>
          <a:prstGeom prst="rect">
            <a:avLst/>
          </a:prstGeom>
          <a:solidFill>
            <a:srgbClr val="1F1448"/>
          </a:solidFill>
          <a:ln w="31750">
            <a:solidFill>
              <a:srgbClr val="65C8D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65C8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466344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اعمل Soft Launch Plan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حدّد 20 عميل ودود · بريف الفريق · حضّر support workflows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5760720"/>
            <a:ext cx="1463040" cy="365760"/>
          </a:xfrm>
          <a:prstGeom prst="rect">
            <a:avLst/>
          </a:prstGeom>
          <a:solidFill>
            <a:srgbClr val="65C8D0"/>
          </a:solidFill>
          <a:ln w="12700">
            <a:solidFill>
              <a:srgbClr val="65C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5760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2-3 أيام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2560320"/>
            <a:ext cx="3657600" cy="3657600"/>
          </a:xfrm>
          <a:prstGeom prst="rect">
            <a:avLst/>
          </a:prstGeom>
          <a:solidFill>
            <a:srgbClr val="1F1448"/>
          </a:solidFill>
          <a:ln w="31750">
            <a:solidFill>
              <a:srgbClr val="5C15C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0" y="27432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i="1" dirty="0">
                <a:solidFill>
                  <a:srgbClr val="5C1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8000" dirty="0"/>
          </a:p>
        </p:txBody>
      </p:sp>
      <p:sp>
        <p:nvSpPr>
          <p:cNvPr id="21" name="Text 19"/>
          <p:cNvSpPr/>
          <p:nvPr/>
        </p:nvSpPr>
        <p:spPr>
          <a:xfrm>
            <a:off x="850392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نظّم Merchant Accounts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5C8D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Paymob + Fawry production · KYC docs · webhook URLs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5760720"/>
            <a:ext cx="1463040" cy="365760"/>
          </a:xfrm>
          <a:prstGeom prst="rect">
            <a:avLst/>
          </a:prstGeom>
          <a:solidFill>
            <a:srgbClr val="5C15CC"/>
          </a:solidFill>
          <a:ln w="12700">
            <a:solidFill>
              <a:srgbClr val="5C15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5760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1-2 أسابيع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309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اختار حرف واحد من اللي فوق وقولّي → نبدأ تنفيذه فوراً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1371600"/>
            <a:ext cx="4846320" cy="4846320"/>
          </a:xfrm>
          <a:prstGeom prst="ellipse">
            <a:avLst/>
          </a:prstGeom>
          <a:solidFill>
            <a:srgbClr val="5C15CC">
              <a:alpha val="20000"/>
            </a:srgbClr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i="1" dirty="0">
                <a:solidFill>
                  <a:srgbClr val="F15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BSN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400" kern="0" dirty="0">
                <a:solidFill>
                  <a:srgbClr val="65C8D0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شريك الأعمال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وكالة → لمنصّة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1206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15A24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شكراً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hello@bp-eg.com  ·  bp-eg.com  ·  +20 150 015 6690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BSN Platform — رحلة التطوير</dc:title>
  <dc:subject>Project Roadmap · Done + Next</dc:subject>
  <dc:creator>شريك الأعمال</dc:creator>
  <cp:lastModifiedBy>شريك الأعمال</cp:lastModifiedBy>
  <cp:revision>1</cp:revision>
  <dcterms:created xsi:type="dcterms:W3CDTF">2026-05-20T10:59:50Z</dcterms:created>
  <dcterms:modified xsi:type="dcterms:W3CDTF">2026-05-20T10:59:50Z</dcterms:modified>
</cp:coreProperties>
</file>